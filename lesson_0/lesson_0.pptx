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db1bc0f87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db1bc0f87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db1bc0f871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db1bc0f871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db1bc0f871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db1bc0f871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dbbc74622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dbbc74622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t.me/hellsfrik" TargetMode="External"/><Relationship Id="rId4" Type="http://schemas.openxmlformats.org/officeDocument/2006/relationships/hyperlink" Target="https://t.me/hellsfrik" TargetMode="External"/><Relationship Id="rId5" Type="http://schemas.openxmlformats.org/officeDocument/2006/relationships/hyperlink" Target="https://t.me/programmer_chatik" TargetMode="External"/><Relationship Id="rId6" Type="http://schemas.openxmlformats.org/officeDocument/2006/relationships/hyperlink" Target="https://t.me/programmer_chatik" TargetMode="External"/><Relationship Id="rId7" Type="http://schemas.openxmlformats.org/officeDocument/2006/relationships/hyperlink" Target="https://github.com/L1ghtsitte/FreePlusPlus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Курс по ЯП С++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Урок 0, Вводный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ЧТо такое       ?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71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ru" sz="4800">
                <a:solidFill>
                  <a:schemeClr val="dk1"/>
                </a:solidFill>
              </a:rPr>
              <a:t>C++</a:t>
            </a:r>
            <a:r>
              <a:rPr lang="ru" sz="4800">
                <a:solidFill>
                  <a:schemeClr val="dk1"/>
                </a:solidFill>
              </a:rPr>
              <a:t> </a:t>
            </a:r>
            <a:r>
              <a:rPr lang="ru" sz="4800">
                <a:solidFill>
                  <a:schemeClr val="dk1"/>
                </a:solidFill>
              </a:rPr>
              <a:t>- это высокоуровневый объектно-ориентированный язык программирования, разработанный </a:t>
            </a:r>
            <a:r>
              <a:rPr b="1" lang="ru" sz="4800">
                <a:solidFill>
                  <a:schemeClr val="dk1"/>
                </a:solidFill>
              </a:rPr>
              <a:t>Бьёрном Страуструпом</a:t>
            </a:r>
            <a:r>
              <a:rPr lang="ru" sz="4800">
                <a:solidFill>
                  <a:schemeClr val="dk1"/>
                </a:solidFill>
              </a:rPr>
              <a:t> в </a:t>
            </a:r>
            <a:r>
              <a:rPr b="1" lang="ru" sz="4800">
                <a:solidFill>
                  <a:schemeClr val="dk1"/>
                </a:solidFill>
              </a:rPr>
              <a:t>1983 году</a:t>
            </a:r>
            <a:r>
              <a:rPr lang="ru" sz="4800">
                <a:solidFill>
                  <a:schemeClr val="dk1"/>
                </a:solidFill>
              </a:rPr>
              <a:t>. Его синтаксис на 99% похож на синтаксис языка-предшественника - </a:t>
            </a:r>
            <a:r>
              <a:rPr b="1" lang="ru" sz="4800">
                <a:solidFill>
                  <a:schemeClr val="dk1"/>
                </a:solidFill>
              </a:rPr>
              <a:t>C</a:t>
            </a:r>
            <a:r>
              <a:rPr lang="ru" sz="4800">
                <a:solidFill>
                  <a:schemeClr val="dk1"/>
                </a:solidFill>
              </a:rPr>
              <a:t>, однако в C++ добавлена поддержка классов, объектов и других возможностей ООП.</a:t>
            </a:r>
            <a:endParaRPr sz="4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39003" y="481675"/>
            <a:ext cx="509446" cy="57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86350" y="-2"/>
            <a:ext cx="1045950" cy="117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55196" y="2086524"/>
            <a:ext cx="2633601" cy="229185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4"/>
          <p:cNvSpPr txBox="1"/>
          <p:nvPr/>
        </p:nvSpPr>
        <p:spPr>
          <a:xfrm>
            <a:off x="3238500" y="4550025"/>
            <a:ext cx="2645100" cy="37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100">
                <a:solidFill>
                  <a:schemeClr val="dk1"/>
                </a:solidFill>
              </a:rPr>
              <a:t>Бьёрн Страуструп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/>
              <a:t>Поскольку C++ работает напрямую с железом и операционной системой, он обладает высокой скоростью и гибкостью. Именно поэтому он используется для создания: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183175" y="1152475"/>
            <a:ext cx="8649300" cy="129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-296863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ru" sz="4300">
                <a:solidFill>
                  <a:schemeClr val="dk1"/>
                </a:solidFill>
              </a:rPr>
              <a:t>Операционных систем</a:t>
            </a:r>
            <a:r>
              <a:rPr lang="ru" sz="4300">
                <a:solidFill>
                  <a:schemeClr val="dk1"/>
                </a:solidFill>
              </a:rPr>
              <a:t> (например, Windows 10/11)</a:t>
            </a:r>
            <a:endParaRPr sz="4300">
              <a:solidFill>
                <a:schemeClr val="dk1"/>
              </a:solidFill>
            </a:endParaRPr>
          </a:p>
          <a:p>
            <a:pPr indent="-296863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ru" sz="4300">
                <a:solidFill>
                  <a:schemeClr val="dk1"/>
                </a:solidFill>
              </a:rPr>
              <a:t>Игровых движков</a:t>
            </a:r>
            <a:r>
              <a:rPr lang="ru" sz="4300">
                <a:solidFill>
                  <a:schemeClr val="dk1"/>
                </a:solidFill>
              </a:rPr>
              <a:t> (Unity, Unreal Engine, Source, Source 2 и множество других AAA-игр)</a:t>
            </a:r>
            <a:endParaRPr sz="4300">
              <a:solidFill>
                <a:schemeClr val="dk1"/>
              </a:solidFill>
            </a:endParaRPr>
          </a:p>
          <a:p>
            <a:pPr indent="-296863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ru" sz="4300">
                <a:solidFill>
                  <a:schemeClr val="dk1"/>
                </a:solidFill>
              </a:rPr>
              <a:t>Систем управления базами данных</a:t>
            </a:r>
            <a:r>
              <a:rPr lang="ru" sz="4300">
                <a:solidFill>
                  <a:schemeClr val="dk1"/>
                </a:solidFill>
              </a:rPr>
              <a:t> (например, MySQL)</a:t>
            </a:r>
            <a:endParaRPr sz="4300">
              <a:solidFill>
                <a:schemeClr val="dk1"/>
              </a:solidFill>
            </a:endParaRPr>
          </a:p>
          <a:p>
            <a:pPr indent="-296863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ru" sz="4300">
                <a:solidFill>
                  <a:schemeClr val="dk1"/>
                </a:solidFill>
              </a:rPr>
              <a:t>Браузеров</a:t>
            </a:r>
            <a:r>
              <a:rPr lang="ru" sz="4300">
                <a:solidFill>
                  <a:schemeClr val="dk1"/>
                </a:solidFill>
              </a:rPr>
              <a:t> (Firefox, Chrome)</a:t>
            </a:r>
            <a:endParaRPr sz="4300">
              <a:solidFill>
                <a:schemeClr val="dk1"/>
              </a:solidFill>
            </a:endParaRPr>
          </a:p>
          <a:p>
            <a:pPr indent="-296863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ru" sz="4300">
                <a:solidFill>
                  <a:schemeClr val="dk1"/>
                </a:solidFill>
              </a:rPr>
              <a:t>Тяжёлого ПО</a:t>
            </a:r>
            <a:r>
              <a:rPr lang="ru" sz="4300">
                <a:solidFill>
                  <a:schemeClr val="dk1"/>
                </a:solidFill>
              </a:rPr>
              <a:t> (Adobe Photoshop и другие)</a:t>
            </a:r>
            <a:endParaRPr sz="4300">
              <a:solidFill>
                <a:schemeClr val="dk1"/>
              </a:solidFill>
            </a:endParaRPr>
          </a:p>
          <a:p>
            <a:pPr indent="-296863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ru" sz="4300">
                <a:solidFill>
                  <a:schemeClr val="dk1"/>
                </a:solidFill>
              </a:rPr>
              <a:t>Приложений реального времени</a:t>
            </a:r>
            <a:r>
              <a:rPr lang="ru" sz="4300">
                <a:solidFill>
                  <a:schemeClr val="dk1"/>
                </a:solidFill>
              </a:rPr>
              <a:t> (финтех, робототехника, телекоммуникации)</a:t>
            </a:r>
            <a:endParaRPr sz="4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2" name="Google Shape;72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19900" y="841200"/>
            <a:ext cx="2060498" cy="1159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4900" y="2447275"/>
            <a:ext cx="1979724" cy="608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60288" y="4049075"/>
            <a:ext cx="1979725" cy="608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013587" y="2690600"/>
            <a:ext cx="1673124" cy="1115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4900" y="3304450"/>
            <a:ext cx="1477750" cy="1525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002575" y="2509300"/>
            <a:ext cx="1477750" cy="1477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5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006319" y="3304453"/>
            <a:ext cx="1327997" cy="1294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/>
              <a:t>C++ - один из самых быстрых языков высокого уровня: по производительности он близок к ассемблеру, но при этом предоставляет удобные абстракции.</a:t>
            </a:r>
            <a:endParaRPr sz="1200"/>
          </a:p>
        </p:txBody>
      </p:sp>
      <p:sp>
        <p:nvSpPr>
          <p:cNvPr id="84" name="Google Shape;84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chemeClr val="dk1"/>
                </a:solidFill>
              </a:rPr>
              <a:t>Важная особенность: C++ позволяет </a:t>
            </a:r>
            <a:r>
              <a:rPr b="1" lang="ru" sz="1100">
                <a:solidFill>
                  <a:schemeClr val="dk1"/>
                </a:solidFill>
              </a:rPr>
              <a:t>вручную управлять памятью</a:t>
            </a:r>
            <a:r>
              <a:rPr lang="ru" sz="1100">
                <a:solidFill>
                  <a:schemeClr val="dk1"/>
                </a:solidFill>
              </a:rPr>
              <a:t>, чего не допускают большинство современных языков. Это делает его очень мощным, но вместе с тем и более сложным в написании. Появляется риск </a:t>
            </a:r>
            <a:r>
              <a:rPr b="1" lang="ru" sz="1100">
                <a:solidFill>
                  <a:schemeClr val="dk1"/>
                </a:solidFill>
              </a:rPr>
              <a:t>утечки памяти</a:t>
            </a:r>
            <a:r>
              <a:rPr lang="ru" sz="1100">
                <a:solidFill>
                  <a:schemeClr val="dk1"/>
                </a:solidFill>
              </a:rPr>
              <a:t> - ситуации, когда программист выделяет память под переменные, объекты или массивы, но не освобождает её. Также требуется понимание понятий </a:t>
            </a:r>
            <a:r>
              <a:rPr b="1" lang="ru" sz="1100">
                <a:solidFill>
                  <a:schemeClr val="dk1"/>
                </a:solidFill>
              </a:rPr>
              <a:t>кучи</a:t>
            </a:r>
            <a:r>
              <a:rPr lang="ru" sz="1100">
                <a:solidFill>
                  <a:schemeClr val="dk1"/>
                </a:solidFill>
              </a:rPr>
              <a:t> и </a:t>
            </a:r>
            <a:r>
              <a:rPr b="1" lang="ru" sz="1100">
                <a:solidFill>
                  <a:schemeClr val="dk1"/>
                </a:solidFill>
              </a:rPr>
              <a:t>стека</a:t>
            </a:r>
            <a:r>
              <a:rPr lang="ru" sz="1100">
                <a:solidFill>
                  <a:schemeClr val="dk1"/>
                </a:solidFill>
              </a:rPr>
              <a:t> - подробнее об этом поговорим в следующих уроках.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5" name="Google Shape;8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54650" y="2334175"/>
            <a:ext cx="2234700" cy="2234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idx="1" type="body"/>
          </p:nvPr>
        </p:nvSpPr>
        <p:spPr>
          <a:xfrm>
            <a:off x="173400" y="147000"/>
            <a:ext cx="8797200" cy="4849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2200">
                <a:solidFill>
                  <a:schemeClr val="dk1"/>
                </a:solidFill>
              </a:rPr>
              <a:t>📢 Канал:</a:t>
            </a:r>
            <a:r>
              <a:rPr lang="ru" sz="2200">
                <a:solidFill>
                  <a:schemeClr val="dk1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ru" sz="2200" u="sng">
                <a:solidFill>
                  <a:schemeClr val="hlink"/>
                </a:solidFill>
                <a:hlinkClick r:id="rId4"/>
              </a:rPr>
              <a:t>@hellsfrik</a:t>
            </a:r>
            <a:endParaRPr sz="2200" u="sng">
              <a:solidFill>
                <a:schemeClr val="hlink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2200">
                <a:solidFill>
                  <a:schemeClr val="dk1"/>
                </a:solidFill>
              </a:rPr>
              <a:t>💬 Чат:</a:t>
            </a:r>
            <a:r>
              <a:rPr lang="ru" sz="2200">
                <a:solidFill>
                  <a:schemeClr val="dk1"/>
                </a:solidFill>
                <a:uFill>
                  <a:noFill/>
                </a:u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ru" sz="2200" u="sng">
                <a:solidFill>
                  <a:schemeClr val="hlink"/>
                </a:solidFill>
                <a:hlinkClick r:id="rId6"/>
              </a:rPr>
              <a:t>@programmer_chatik</a:t>
            </a:r>
            <a:endParaRPr sz="2200" u="sng">
              <a:solidFill>
                <a:schemeClr val="hlink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2200">
                <a:solidFill>
                  <a:schemeClr val="dk1"/>
                </a:solidFill>
              </a:rPr>
              <a:t>GitHub: </a:t>
            </a:r>
            <a:r>
              <a:rPr lang="ru" sz="2200" u="sng">
                <a:solidFill>
                  <a:schemeClr val="hlink"/>
                </a:solidFill>
                <a:hlinkClick r:id="rId7"/>
              </a:rPr>
              <a:t>https://github.com/L1ghtsitte/FreePlusPlus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